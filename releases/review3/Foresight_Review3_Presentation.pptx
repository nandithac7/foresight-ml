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f2776ab-2aec-884c-c7a6-968a9fff2f37}">
          <p14:sldIdLst>
            <p14:sldId id="256"/>
            <p14:sldId id="257"/>
          </p14:sldIdLst>
        </p14:section>
        <p14:section name="Data" id="{019cee89-f361-9548-0960-da85a84e3c0e}">
          <p14:sldIdLst>
            <p14:sldId id="258"/>
          </p14:sldIdLst>
        </p14:section>
        <p14:section name="System" id="{0c391555-1cce-021c-ae31-727b4863afae}">
          <p14:sldIdLst>
            <p14:sldId id="259"/>
          </p14:sldIdLst>
        </p14:section>
        <p14:section name="Models and results" id="{7c918bcb-13d7-e6a3-cf21-4dd2501a3226}">
          <p14:sldIdLst>
            <p14:sldId id="260"/>
            <p14:sldId id="261"/>
            <p14:sldId id="262"/>
            <p14:sldId id="263"/>
            <p14:sldId id="264"/>
          </p14:sldIdLst>
        </p14:section>
        <p14:section name="Explainability" id="{79bf4627-3978-f273-94ff-4801a9ef331f}">
          <p14:sldIdLst>
            <p14:sldId id="265"/>
          </p14:sldIdLst>
        </p14:section>
        <p14:section name="New components" id="{6cc45a9d-b5ed-7af8-5109-b9953273ce40}">
          <p14:sldIdLst>
            <p14:sldId id="266"/>
          </p14:sldIdLst>
        </p14:section>
        <p14:section name="Integration and testing" id="{b871f676-6adc-9300-36d9-0b819702d305}">
          <p14:sldIdLst>
            <p14:sldId id="267"/>
            <p14:sldId id="268"/>
          </p14:sldIdLst>
        </p14:section>
        <p14:section name="Conclusion" id="{50d5d736-7d0b-9a4f-7314-359559f2e65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Test spoilage macro-F1 (ViT-S = mean of 3 seeds)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spoilage macro-F1</c:v>
                </c:pt>
              </c:strCache>
            </c:strRef>
          </c:tx>
          <c:spPr>
            <a:solidFill>
              <a:srgbClr val="2F6B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Colour hist. + LogReg</c:v>
                  </c:pt>
                  <c:pt idx="1">
                    <c:v>Frozen ViT-B + LogReg</c:v>
                  </c:pt>
                  <c:pt idx="2">
                    <c:v>ViT-S real only</c:v>
                  </c:pt>
                  <c:pt idx="3">
                    <c:v>ViT-S + conv. aug</c:v>
                  </c:pt>
                  <c:pt idx="4">
                    <c:v>ViT-S + aug + GAN</c:v>
                  </c:pt>
                  <c:pt idx="5">
                    <c:v>ViT-B/16 (deployed)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0.828</c:v>
                </c:pt>
                <c:pt idx="1">
                  <c:v>0.916</c:v>
                </c:pt>
                <c:pt idx="2">
                  <c:v>0.914</c:v>
                </c:pt>
                <c:pt idx="3">
                  <c:v>0.928</c:v>
                </c:pt>
                <c:pt idx="4">
                  <c:v>0.919</c:v>
                </c:pt>
                <c:pt idx="5">
                  <c:v>0.954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E3E9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goal of Review 3: show real models running inside the application, compare models, show XAI, and report test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7E4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Foresight: Visual Produce-Spoilage Estimation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E4DA"/>
                </a:solidFill>
              </a:rPr>
              <a:t>Review 3 — trained models, integrated web application, evaluation and deployment readiness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photo to an actionable freshness estimate</a:t>
            </a:r>
            <a:endParaRPr lang="en-US" sz="32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Post-harvest loss is high for perishable fruit and vegetables in Indian supply chains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Foresight takes one phone-style photo of a single item and returns: produce type, spoilage estimate, visible-decay check, decay mask, proxy shelf-life and an explanation heat-map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Six produce types: banana, carrot, guava, Indian gooseberry, mango, tomato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Research prototype — a visual estimate, not a food-safety guarantee</a:t>
            </a:r>
            <a:endParaRPr lang="en-US" sz="1600" dirty="0"/>
          </a:p>
        </p:txBody>
      </p:sp>
      <p:pic>
        <p:nvPicPr>
          <p:cNvPr id="4" name="img_xai_class_gallery_part1.png" descr="Example inputs and attention m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539538"/>
            <a:ext cx="5212080" cy="20532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0"/>
                </a:solidFill>
              </a:rPr>
              <a:t>Real test images with the model's attention rollout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TR-6 audited: duplicates and conflicts removed</a:t>
            </a:r>
            <a:endParaRPr lang="en-US" sz="3200" dirty="0"/>
          </a:p>
        </p:txBody>
      </p:sp>
      <p:sp>
        <p:nvSpPr>
          <p:cNvPr id="3" name="stat_card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21,653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files audited (19.8 GiB)</a:t>
            </a:r>
            <a:endParaRPr lang="en-US" sz="1200" dirty="0"/>
          </a:p>
        </p:txBody>
      </p:sp>
      <p:sp>
        <p:nvSpPr>
          <p:cNvPr id="6" name="stat_card"/>
          <p:cNvSpPr/>
          <p:nvPr/>
        </p:nvSpPr>
        <p:spPr>
          <a:xfrm>
            <a:off x="338328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10,776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images (Classified = copy of Normal)</a:t>
            </a:r>
            <a:endParaRPr lang="en-US" sz="1200" dirty="0"/>
          </a:p>
        </p:txBody>
      </p:sp>
      <p:sp>
        <p:nvSpPr>
          <p:cNvPr id="9" name="stat_card"/>
          <p:cNvSpPr/>
          <p:nvPr/>
        </p:nvSpPr>
        <p:spPr>
          <a:xfrm>
            <a:off x="621792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contents with conflicting labels — excluded</a:t>
            </a:r>
            <a:endParaRPr lang="en-US" sz="1200" dirty="0"/>
          </a:p>
        </p:txBody>
      </p:sp>
      <p:sp>
        <p:nvSpPr>
          <p:cNvPr id="12" name="stat_card"/>
          <p:cNvSpPr/>
          <p:nvPr/>
        </p:nvSpPr>
        <p:spPr>
          <a:xfrm>
            <a:off x="905256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5,335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eligible sRGB images used</a:t>
            </a:r>
            <a:endParaRPr lang="en-US" sz="1200" dirty="0"/>
          </a:p>
        </p:txBody>
      </p:sp>
      <p:pic>
        <p:nvPicPr>
          <p:cNvPr id="15" name="img_split_distribution.png" descr="Split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67837"/>
            <a:ext cx="6766560" cy="2791206"/>
          </a:xfrm>
          <a:prstGeom prst="rect">
            <a:avLst/>
          </a:prstGeom>
        </p:spPr>
      </p:pic>
      <p:sp>
        <p:nvSpPr>
          <p:cNvPr id="16" name="bullets"/>
          <p:cNvSpPr txBox="1"/>
          <p:nvPr/>
        </p:nvSpPr>
        <p:spPr>
          <a:xfrm>
            <a:off x="7589520" y="31089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60/20/20 split by capture session: 3177 / 1087 / 1071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0 duplicate images and 0 sessions shared across splits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random split would put an exact copy of ~60% of test images into training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React UI, FastAPI, models, SQLite</a:t>
            </a:r>
            <a:endParaRPr lang="en-US" sz="3200" dirty="0"/>
          </a:p>
        </p:txBody>
      </p:sp>
      <p:sp>
        <p:nvSpPr>
          <p:cNvPr id="3" name="arch_box"/>
          <p:cNvSpPr/>
          <p:nvPr/>
        </p:nvSpPr>
        <p:spPr>
          <a:xfrm>
            <a:off x="548640" y="155448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React + Vite UI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upload, results, history, dashboard</a:t>
            </a:r>
            <a:endParaRPr lang="en-US" sz="1500" dirty="0"/>
          </a:p>
        </p:txBody>
      </p:sp>
      <p:sp>
        <p:nvSpPr>
          <p:cNvPr id="5" name="arrow"/>
          <p:cNvSpPr/>
          <p:nvPr/>
        </p:nvSpPr>
        <p:spPr>
          <a:xfrm>
            <a:off x="2532888" y="210312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arch_box"/>
          <p:cNvSpPr/>
          <p:nvPr/>
        </p:nvSpPr>
        <p:spPr>
          <a:xfrm>
            <a:off x="2834640" y="155448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6459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FastAPI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validation, errors, CORS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4818888" y="210312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arch_box"/>
          <p:cNvSpPr/>
          <p:nvPr/>
        </p:nvSpPr>
        <p:spPr>
          <a:xfrm>
            <a:off x="5120640" y="155448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6459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Inference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ViT-B/16 + add-on models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7104888" y="210312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arch_box"/>
          <p:cNvSpPr/>
          <p:nvPr/>
        </p:nvSpPr>
        <p:spPr>
          <a:xfrm>
            <a:off x="7406640" y="155448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6459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 composer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warnings, overlays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9390888" y="210312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arch_box"/>
          <p:cNvSpPr/>
          <p:nvPr/>
        </p:nvSpPr>
        <p:spPr>
          <a:xfrm>
            <a:off x="9692640" y="1554480"/>
            <a:ext cx="19659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0" y="16459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SQLite history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images stored</a:t>
            </a:r>
            <a:endParaRPr lang="en-US" sz="1500" dirty="0"/>
          </a:p>
        </p:txBody>
      </p:sp>
      <p:sp>
        <p:nvSpPr>
          <p:cNvPr id="17" name="dot"/>
          <p:cNvSpPr/>
          <p:nvPr/>
        </p:nvSpPr>
        <p:spPr>
          <a:xfrm>
            <a:off x="1298448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984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ViT-B/16 classifier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produce type + spoilage</a:t>
            </a:r>
            <a:endParaRPr lang="en-US" sz="1300" dirty="0"/>
          </a:p>
        </p:txBody>
      </p:sp>
      <p:sp>
        <p:nvSpPr>
          <p:cNvPr id="20" name="dot"/>
          <p:cNvSpPr/>
          <p:nvPr/>
        </p:nvSpPr>
        <p:spPr>
          <a:xfrm>
            <a:off x="3584448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844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977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Visible-decay check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probe trained on human labels</a:t>
            </a:r>
            <a:endParaRPr lang="en-US" sz="1300" dirty="0"/>
          </a:p>
        </p:txBody>
      </p:sp>
      <p:sp>
        <p:nvSpPr>
          <p:cNvPr id="23" name="dot"/>
          <p:cNvSpPr/>
          <p:nvPr/>
        </p:nvSpPr>
        <p:spPr>
          <a:xfrm>
            <a:off x="5870448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704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3977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Pilot U-Net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fruit + decay mask, coverage %</a:t>
            </a:r>
            <a:endParaRPr lang="en-US" sz="1300" dirty="0"/>
          </a:p>
        </p:txBody>
      </p:sp>
      <p:sp>
        <p:nvSpPr>
          <p:cNvPr id="26" name="dot"/>
          <p:cNvSpPr/>
          <p:nvPr/>
        </p:nvSpPr>
        <p:spPr>
          <a:xfrm>
            <a:off x="8156448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564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977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Proxy shelf-life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days until 'Spoiled' label</a:t>
            </a:r>
            <a:endParaRPr lang="en-US" sz="1300" dirty="0"/>
          </a:p>
        </p:txBody>
      </p:sp>
      <p:sp>
        <p:nvSpPr>
          <p:cNvPr id="29" name="dot"/>
          <p:cNvSpPr/>
          <p:nvPr/>
        </p:nvSpPr>
        <p:spPr>
          <a:xfrm>
            <a:off x="10442448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4244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3977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Attention rollout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XAI heat-map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response carries the model version, warnings and a disclaimer; mock mode is off by default and labelled DEMO MOCK DATA if ever enabled.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model: pretrained ViT-B/16 with two heads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ViT-B/16 (ImageNet-21k → 1k), fine-tuned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type (6) + spoilage (2)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CE(type) + CE(spoilage)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 / LR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0.00002 backbone, 0.0002 heads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epochs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12, best epoch 9 (validation)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crop, flips, ±15° rotation, brightness/contrast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 min on Apple M5 (MPS)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pic>
        <p:nvPicPr>
          <p:cNvPr id="4" name="img_primary_validation_metrics.png" descr="Validation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06854"/>
            <a:ext cx="5212080" cy="33357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92240" y="5669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0"/>
                </a:solidFill>
              </a:rPr>
              <a:t>Validation macro-F1 per epoch; checkpoint selected on validation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test results (1,071 images, scored once)</a:t>
            </a:r>
            <a:endParaRPr lang="en-US" sz="3200" dirty="0"/>
          </a:p>
        </p:txBody>
      </p:sp>
      <p:sp>
        <p:nvSpPr>
          <p:cNvPr id="3" name="stat_card"/>
          <p:cNvSpPr/>
          <p:nvPr/>
        </p:nvSpPr>
        <p:spPr>
          <a:xfrm>
            <a:off x="548640" y="137160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spoilage macro-F1</a:t>
            </a:r>
            <a:endParaRPr lang="en-US" sz="1200" dirty="0"/>
          </a:p>
        </p:txBody>
      </p:sp>
      <p:sp>
        <p:nvSpPr>
          <p:cNvPr id="6" name="stat_card"/>
          <p:cNvSpPr/>
          <p:nvPr/>
        </p:nvSpPr>
        <p:spPr>
          <a:xfrm>
            <a:off x="3108960" y="137160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spoilage accuracy</a:t>
            </a:r>
            <a:endParaRPr lang="en-US" sz="1200" dirty="0"/>
          </a:p>
        </p:txBody>
      </p:sp>
      <p:sp>
        <p:nvSpPr>
          <p:cNvPr id="9" name="stat_card"/>
          <p:cNvSpPr/>
          <p:nvPr/>
        </p:nvSpPr>
        <p:spPr>
          <a:xfrm>
            <a:off x="548640" y="297180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81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0.989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spoilage ROC-AUC</a:t>
            </a:r>
            <a:endParaRPr lang="en-US" sz="1200" dirty="0"/>
          </a:p>
        </p:txBody>
      </p:sp>
      <p:sp>
        <p:nvSpPr>
          <p:cNvPr id="12" name="stat_card"/>
          <p:cNvSpPr/>
          <p:nvPr/>
        </p:nvSpPr>
        <p:spPr>
          <a:xfrm>
            <a:off x="3108960" y="297180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3081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produce-type accuracy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Session-bootstrap 95% CI for macro-F1: 0.903–0.988. Weak spot: Spoiled recall 0.894 (mostly gooseberry and tomato).</a:t>
            </a:r>
            <a:endParaRPr lang="en-US" sz="1400" dirty="0"/>
          </a:p>
        </p:txBody>
      </p:sp>
      <p:pic>
        <p:nvPicPr>
          <p:cNvPr id="16" name="img_primary_confusion_spoilage.png" descr="Spoilage confusion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543722"/>
            <a:ext cx="2926080" cy="2581835"/>
          </a:xfrm>
          <a:prstGeom prst="rect">
            <a:avLst/>
          </a:prstGeom>
        </p:spPr>
      </p:pic>
      <p:pic>
        <p:nvPicPr>
          <p:cNvPr id="17" name="img_primary_roc_spoilage.png" descr="ROC cur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496060"/>
            <a:ext cx="2834640" cy="2677160"/>
          </a:xfrm>
          <a:prstGeom prst="rect">
            <a:avLst/>
          </a:prstGeom>
        </p:spPr>
      </p:pic>
      <p:pic>
        <p:nvPicPr>
          <p:cNvPr id="18" name="img_primary_errors_by_stratum.png" descr="Errors by stratu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115" y="4480560"/>
            <a:ext cx="428625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comparison: fine-tuned ViT-B/16 is best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8138160" y="1463040"/>
            <a:ext cx="3566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Fine-tuning beats frozen features by 0.038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Conventional augmentation: +0.013, positive on all 3 seeds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GAN images: -0.009, not consistent across seeds — no benefit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split, same untouched test set for every model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augmentation: tested, no measurable gain</a:t>
            </a:r>
            <a:endParaRPr lang="en-US" sz="3200" dirty="0"/>
          </a:p>
        </p:txBody>
      </p:sp>
      <p:pic>
        <p:nvPicPr>
          <p:cNvPr id="3" name="img_gan_label_consistency.png" descr="GAN label consist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6464"/>
            <a:ext cx="6583680" cy="2633472"/>
          </a:xfrm>
          <a:prstGeom prst="rect">
            <a:avLst/>
          </a:prstGeom>
        </p:spPr>
      </p:pic>
      <p:pic>
        <p:nvPicPr>
          <p:cNvPr id="4" name="img_gan_nearest_neighbour.png" descr="GAN nearest neighbou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81728"/>
            <a:ext cx="6583680" cy="1243584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7406640" y="1371600"/>
            <a:ext cx="4297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Conditional DCGAN, 64×64, 12 classes, trained on the training split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480 synthetic images; real-data ViT recognises the intended produce in only 34.6%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memorisation: generated images are farther from training images than real images are from each other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3-seed ViT-S result: 0.919 with GAN vs 0.928 without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Ablations: split design and noise matter most</a:t>
            </a:r>
            <a:endParaRPr lang="en-US" sz="3200" dirty="0"/>
          </a:p>
        </p:txBody>
      </p:sp>
      <p:pic>
        <p:nvPicPr>
          <p:cNvPr id="3" name="img_noise_robustness.png" descr="Noise robust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8265"/>
            <a:ext cx="6949440" cy="218411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images with same-day image in 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(raw files)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 (+ 60% exact duplicates)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Session-grouped (used)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Day-grouped (sensitivity)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7772400" y="1371600"/>
            <a:ext cx="3931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Unseen-days test: 0.830 vs 0.928 (−0.098, 3 seeds)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Strong noise lowers spoilage macro-F1 to ~0.78–0.80; produce type stays ≥0.96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3×3 median filter repairs salt-and-pepper noise; DnCNN helps under heavy noise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TR-6 sensor noise (σ≈0.003) is far below these stress levels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XAI: attention rollout shows the model looks at the fruit</a:t>
            </a:r>
            <a:endParaRPr lang="en-US" sz="3200" dirty="0"/>
          </a:p>
        </p:txBody>
      </p:sp>
      <p:pic>
        <p:nvPicPr>
          <p:cNvPr id="3" name="img_xai_class_gallery_part2.png" descr="Correct predi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4193"/>
            <a:ext cx="5760720" cy="2269375"/>
          </a:xfrm>
          <a:prstGeom prst="rect">
            <a:avLst/>
          </a:prstGeom>
        </p:spPr>
      </p:pic>
      <p:pic>
        <p:nvPicPr>
          <p:cNvPr id="4" name="img_xai_failure_fn.png" descr="False negati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85" y="3794760"/>
            <a:ext cx="5222631" cy="2468880"/>
          </a:xfrm>
          <a:prstGeom prst="rect">
            <a:avLst/>
          </a:prstGeom>
        </p:spPr>
      </p:pic>
      <p:sp>
        <p:nvSpPr>
          <p:cNvPr id="5" name="stat_card"/>
          <p:cNvSpPr/>
          <p:nvPr/>
        </p:nvSpPr>
        <p:spPr>
          <a:xfrm>
            <a:off x="6675120" y="137160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1228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8122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larger confidence drop when highlighted patches are masked vs random</a:t>
            </a:r>
            <a:endParaRPr lang="en-US" sz="1200" dirty="0"/>
          </a:p>
        </p:txBody>
      </p:sp>
      <p:sp>
        <p:nvSpPr>
          <p:cNvPr id="8" name="stat_card"/>
          <p:cNvSpPr/>
          <p:nvPr/>
        </p:nvSpPr>
        <p:spPr>
          <a:xfrm>
            <a:off x="9235440" y="1371600"/>
            <a:ext cx="2377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372600" y="14813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93726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map stability under flip (Spearman ρ)</a:t>
            </a:r>
            <a:endParaRPr lang="en-US" sz="1200" dirty="0"/>
          </a:p>
        </p:txBody>
      </p:sp>
      <p:sp>
        <p:nvSpPr>
          <p:cNvPr id="11" name="bullets"/>
          <p:cNvSpPr txBox="1"/>
          <p:nvPr/>
        </p:nvSpPr>
        <p:spPr>
          <a:xfrm>
            <a:off x="6675120" y="30175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Missed 'Spoiled' gooseberries look fresh, and attention is on the fruit — the date-based label precedes visible decay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Bright background dots are a known ViT artefact, not evidence of background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Explanations are diagnostic, not proof of correctness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Added: visible-decay check, pilot U-Net, proxy shelf-life</a:t>
            </a:r>
            <a:endParaRPr lang="en-US" sz="3200" dirty="0"/>
          </a:p>
        </p:txBody>
      </p:sp>
      <p:pic>
        <p:nvPicPr>
          <p:cNvPr id="3" name="img_unet_pilot_overlays.png" descr="Pilot U-Net examp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9680"/>
            <a:ext cx="6400800" cy="3352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0"/>
                </a:solidFill>
              </a:rPr>
              <a:t>Pilot U-Net on held-out test images: input / machine mask / prediction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280160"/>
          <a:ext cx="44805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Visible-decay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 accuracy (n=29)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human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U-Net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 Dice 0.98, decay Dice 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masks (pilot)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shelf-life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4.3 days, R² 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'Spoiled'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384048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 annotation of 180 images: TR-6 'Spoiled' images showed visible decay in only 72/109. The U-Net is a pilot (machine-generated masks) and shelf-life is a proxy — both labelled as such in the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integration with the trained models</a:t>
            </a:r>
            <a:endParaRPr lang="en-US" sz="3200" dirty="0"/>
          </a:p>
        </p:txBody>
      </p:sp>
      <p:sp>
        <p:nvSpPr>
          <p:cNvPr id="3" name="step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Upload photo (JPG/PNG/WEBP ≤15 MB)</a:t>
            </a:r>
            <a:endParaRPr lang="en-US" sz="1600" dirty="0"/>
          </a:p>
        </p:txBody>
      </p:sp>
      <p:sp>
        <p:nvSpPr>
          <p:cNvPr id="6" name="step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Validate, decode, EXIF-correct, resize</a:t>
            </a:r>
            <a:endParaRPr lang="en-US" sz="1600" dirty="0"/>
          </a:p>
        </p:txBody>
      </p:sp>
      <p:sp>
        <p:nvSpPr>
          <p:cNvPr id="9" name="step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ViT-B/16 + visible-decay + U-Net + shelf-life</a:t>
            </a:r>
            <a:endParaRPr lang="en-US" sz="1600" dirty="0"/>
          </a:p>
        </p:txBody>
      </p:sp>
      <p:sp>
        <p:nvSpPr>
          <p:cNvPr id="12" name="step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Card: type, spoilage, decay %, shelf-life, heat-map</a:t>
            </a:r>
            <a:endParaRPr lang="en-US" sz="1600" dirty="0"/>
          </a:p>
        </p:txBody>
      </p:sp>
      <p:sp>
        <p:nvSpPr>
          <p:cNvPr id="15" name="step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Saved to SQLite history and dashboard</a:t>
            </a:r>
            <a:endParaRPr lang="en-US" sz="1600" dirty="0"/>
          </a:p>
        </p:txBody>
      </p:sp>
      <p:sp>
        <p:nvSpPr>
          <p:cNvPr id="18" name="stat_card"/>
          <p:cNvSpPr/>
          <p:nvPr/>
        </p:nvSpPr>
        <p:spPr>
          <a:xfrm>
            <a:off x="6583680" y="137160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1481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60/60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produce correct via live API (held-out originals)</a:t>
            </a:r>
            <a:endParaRPr lang="en-US" sz="1200" dirty="0"/>
          </a:p>
        </p:txBody>
      </p:sp>
      <p:sp>
        <p:nvSpPr>
          <p:cNvPr id="21" name="stat_card"/>
          <p:cNvSpPr/>
          <p:nvPr/>
        </p:nvSpPr>
        <p:spPr>
          <a:xfrm>
            <a:off x="9235440" y="137160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72600" y="14813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57/60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spoilage correct via live API</a:t>
            </a:r>
            <a:endParaRPr lang="en-US" sz="1200" dirty="0"/>
          </a:p>
        </p:txBody>
      </p:sp>
      <p:sp>
        <p:nvSpPr>
          <p:cNvPr id="24" name="stat_card"/>
          <p:cNvSpPr/>
          <p:nvPr/>
        </p:nvSpPr>
        <p:spPr>
          <a:xfrm>
            <a:off x="6583680" y="297180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30815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ms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median end-to-end latency</a:t>
            </a:r>
            <a:endParaRPr lang="en-US" sz="1200" dirty="0"/>
          </a:p>
        </p:txBody>
      </p:sp>
      <p:sp>
        <p:nvSpPr>
          <p:cNvPr id="27" name="stat_card"/>
          <p:cNvSpPr/>
          <p:nvPr/>
        </p:nvSpPr>
        <p:spPr>
          <a:xfrm>
            <a:off x="9235440" y="2971800"/>
            <a:ext cx="24688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72600" y="308152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44/44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UI fields present in real responses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6177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Errors handled: wrong type (415), corrupt (400), too large (413), model missing (503) — all shown clearly in the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Testing: automated, end-to-end and in the browser</a:t>
            </a:r>
            <a:endParaRPr lang="en-US" sz="3200" dirty="0"/>
          </a:p>
        </p:txBody>
      </p:sp>
      <p:sp>
        <p:nvSpPr>
          <p:cNvPr id="3" name="stat_card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pytest: API, real model, data integrity</a:t>
            </a:r>
            <a:endParaRPr lang="en-US" sz="1200" dirty="0"/>
          </a:p>
        </p:txBody>
      </p:sp>
      <p:sp>
        <p:nvSpPr>
          <p:cNvPr id="6" name="stat_card"/>
          <p:cNvSpPr/>
          <p:nvPr/>
        </p:nvSpPr>
        <p:spPr>
          <a:xfrm>
            <a:off x="338328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Vitest: frontend API client + components</a:t>
            </a:r>
            <a:endParaRPr lang="en-US" sz="1200" dirty="0"/>
          </a:p>
        </p:txBody>
      </p:sp>
      <p:sp>
        <p:nvSpPr>
          <p:cNvPr id="9" name="stat_card"/>
          <p:cNvSpPr/>
          <p:nvPr/>
        </p:nvSpPr>
        <p:spPr>
          <a:xfrm>
            <a:off x="621792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end-to-end checks passed</a:t>
            </a:r>
            <a:endParaRPr lang="en-US" sz="1200" dirty="0"/>
          </a:p>
        </p:txBody>
      </p:sp>
      <p:sp>
        <p:nvSpPr>
          <p:cNvPr id="12" name="stat_card"/>
          <p:cNvSpPr/>
          <p:nvPr/>
        </p:nvSpPr>
        <p:spPr>
          <a:xfrm>
            <a:off x="9052560" y="137160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972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duplicate / session leakage across splits</a:t>
            </a:r>
            <a:endParaRPr lang="en-US" sz="1200" dirty="0"/>
          </a:p>
        </p:txBody>
      </p:sp>
      <p:sp>
        <p:nvSpPr>
          <p:cNvPr id="15" name="bullets"/>
          <p:cNvSpPr txBox="1"/>
          <p:nvPr/>
        </p:nvSpPr>
        <p:spPr>
          <a:xfrm>
            <a:off x="548640" y="310896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Missing checkpoint fails clearly (503) — no fabricated predictions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Mock mode off by default and labelled DEMO MOCK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Source dataset re-hashed: unchanged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CORS restricted to the configured frontend origin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Preprocessing parity: API vs training cache</a:t>
            </a:r>
            <a:endParaRPr lang="en-US" sz="1500" dirty="0"/>
          </a:p>
        </p:txBody>
      </p:sp>
      <p:pic>
        <p:nvPicPr>
          <p:cNvPr id="16" name="img_api_latency.png" descr="API lat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040" y="3017520"/>
            <a:ext cx="5181600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col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BEDE6"/>
          </a:solidFill>
          <a:ln w="12700">
            <a:solidFill>
              <a:srgbClr val="FBED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bullets"/>
          <p:cNvSpPr txBox="1"/>
          <p:nvPr/>
        </p:nvSpPr>
        <p:spPr>
          <a:xfrm>
            <a:off x="822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physical fruits appear in train and test (no specimen IDs)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Spoilage labels are date-based; some 'Spoiled' fruit looks fresh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 photos on plain backgrounds; real phone photos untested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U-Net is a pilot; shelf-life is a proxy</a:t>
            </a:r>
            <a:endParaRPr lang="en-US" sz="1600" dirty="0"/>
          </a:p>
        </p:txBody>
      </p:sp>
      <p:sp>
        <p:nvSpPr>
          <p:cNvPr id="6" name="col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554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bullets"/>
          <p:cNvSpPr txBox="1"/>
          <p:nvPr/>
        </p:nvSpPr>
        <p:spPr>
          <a:xfrm>
            <a:off x="6537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Human-drawn decay polygons → validated U-Net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Real-world photo test 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Confidence calibration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Third-party deployment (backend ~1.5 GB RAM)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IEEE DataPort submission of TR-6+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7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tested and explainable produce-spoilage prototype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E4DA"/>
                </a:solidFill>
              </a:rPr>
              <a:t>ViT-B/16 test spoilage macro-F1 0.954 · integrated FastAPI + React app · GAN, XAI, ablation and robustness evaluated · 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sight Produce">
  <a:themeElements>
    <a:clrScheme name="Foresight Produce">
      <a:dk1>
        <a:srgbClr val="1E2A24"/>
      </a:dk1>
      <a:lt1>
        <a:srgbClr val="FFFFFF"/>
      </a:lt1>
      <a:dk2>
        <a:srgbClr val="2F4A3D"/>
      </a:dk2>
      <a:lt2>
        <a:srgbClr val="EEF3EF"/>
      </a:lt2>
      <a:accent1>
        <a:srgbClr val="2F6B4F"/>
      </a:accent1>
      <a:accent2>
        <a:srgbClr val="C1622E"/>
      </a:accent2>
      <a:accent3>
        <a:srgbClr val="8FA99C"/>
      </a:accent3>
      <a:accent4>
        <a:srgbClr val="B59A3C"/>
      </a:accent4>
      <a:accent5>
        <a:srgbClr val="7A8FB0"/>
      </a:accent5>
      <a:accent6>
        <a:srgbClr val="5A6B60"/>
      </a:accent6>
      <a:hlink>
        <a:srgbClr val="2F6B4F"/>
      </a:hlink>
      <a:folHlink>
        <a:srgbClr val="6D5A8F"/>
      </a:folHlink>
    </a:clrScheme>
    <a:fontScheme name="Foresight Produ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Foresight — Review 3</dc:title>
  <dc:subject>PptxGenJS Presentation</dc:subject>
  <dc:creator>PptxGenJS</dc:creator>
  <cp:lastModifiedBy>PptxGenJS</cp:lastModifiedBy>
  <cp:revision>1</cp:revision>
  <dcterms:created xsi:type="dcterms:W3CDTF">2026-10-17T08:07:35Z</dcterms:created>
  <dcterms:modified xsi:type="dcterms:W3CDTF">2026-10-17T08:07:35Z</dcterms:modified>
</cp:coreProperties>
</file>